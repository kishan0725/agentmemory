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14748297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84"/>
    <p:restoredTop sz="94726"/>
  </p:normalViewPr>
  <p:slideViewPr>
    <p:cSldViewPr snapToGrid="0">
      <p:cViewPr varScale="1">
        <p:scale>
          <a:sx n="120" d="100"/>
          <a:sy n="120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E2A627-5197-B942-AD80-4A7B93B72235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C51C62-4E70-A145-AAF1-AE1A70567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73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BC1842-1AA2-E248-8D74-DA9CC1F8097B}"/>
              </a:ext>
            </a:extLst>
          </p:cNvPr>
          <p:cNvCxnSpPr>
            <a:cxnSpLocks/>
          </p:cNvCxnSpPr>
          <p:nvPr/>
        </p:nvCxnSpPr>
        <p:spPr>
          <a:xfrm>
            <a:off x="666750" y="503872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75DD5DF-B308-0D49-8B63-8E5315E291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2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>
            <a:extLst>
              <a:ext uri="{FF2B5EF4-FFF2-40B4-BE49-F238E27FC236}">
                <a16:creationId xmlns:a16="http://schemas.microsoft.com/office/drawing/2014/main" id="{B8D1FC50-96A6-6343-9FEA-790DCE21B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75" y="652463"/>
            <a:ext cx="2030413" cy="29051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F8DC7E-DD12-EB49-8B8E-8E789EA03F87}"/>
              </a:ext>
            </a:extLst>
          </p:cNvPr>
          <p:cNvCxnSpPr>
            <a:cxnSpLocks/>
          </p:cNvCxnSpPr>
          <p:nvPr/>
        </p:nvCxnSpPr>
        <p:spPr>
          <a:xfrm>
            <a:off x="666750" y="1227138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defRPr sz="6000" b="1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489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Blu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FBA752-FC68-E647-81EB-746DDC1EE942}"/>
              </a:ext>
            </a:extLst>
          </p:cNvPr>
          <p:cNvCxnSpPr>
            <a:cxnSpLocks/>
          </p:cNvCxnSpPr>
          <p:nvPr/>
        </p:nvCxn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2A2503A-D13F-2E4F-8941-684A2AD9BF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7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Gre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89001D-A5D3-424C-AC1D-041A695D538E}"/>
              </a:ext>
            </a:extLst>
          </p:cNvPr>
          <p:cNvCxnSpPr>
            <a:cxnSpLocks/>
          </p:cNvCxnSpPr>
          <p:nvPr/>
        </p:nvCxn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 flipH="1">
            <a:off x="8301805" y="3853403"/>
            <a:ext cx="3239830" cy="3004598"/>
          </a:xfrm>
          <a:custGeom>
            <a:avLst/>
            <a:gdLst>
              <a:gd name="connsiteX0" fmla="*/ 0 w 3192104"/>
              <a:gd name="connsiteY0" fmla="*/ 3239729 h 3239729"/>
              <a:gd name="connsiteX1" fmla="*/ 0 w 3192104"/>
              <a:gd name="connsiteY1" fmla="*/ 0 h 3239729"/>
              <a:gd name="connsiteX2" fmla="*/ 3192104 w 3192104"/>
              <a:gd name="connsiteY2" fmla="*/ 3239729 h 3239729"/>
              <a:gd name="connsiteX3" fmla="*/ 0 w 3192104"/>
              <a:gd name="connsiteY3" fmla="*/ 3239729 h 3239729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49066 w 3241170"/>
              <a:gd name="connsiteY0" fmla="*/ 3035078 h 3035078"/>
              <a:gd name="connsiteX1" fmla="*/ 258072 w 3241170"/>
              <a:gd name="connsiteY1" fmla="*/ 0 h 3035078"/>
              <a:gd name="connsiteX2" fmla="*/ 3241170 w 3241170"/>
              <a:gd name="connsiteY2" fmla="*/ 3035078 h 3035078"/>
              <a:gd name="connsiteX3" fmla="*/ 49066 w 3241170"/>
              <a:gd name="connsiteY3" fmla="*/ 3035078 h 3035078"/>
              <a:gd name="connsiteX0" fmla="*/ 47726 w 3239830"/>
              <a:gd name="connsiteY0" fmla="*/ 3004598 h 3004598"/>
              <a:gd name="connsiteX1" fmla="*/ 261086 w 3239830"/>
              <a:gd name="connsiteY1" fmla="*/ 0 h 3004598"/>
              <a:gd name="connsiteX2" fmla="*/ 3239830 w 3239830"/>
              <a:gd name="connsiteY2" fmla="*/ 3004598 h 3004598"/>
              <a:gd name="connsiteX3" fmla="*/ 47726 w 3239830"/>
              <a:gd name="connsiteY3" fmla="*/ 3004598 h 3004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9830" h="3004598">
                <a:moveTo>
                  <a:pt x="47726" y="3004598"/>
                </a:moveTo>
                <a:cubicBezTo>
                  <a:pt x="-26297" y="2445751"/>
                  <a:pt x="-52423" y="1207636"/>
                  <a:pt x="261086" y="0"/>
                </a:cubicBezTo>
                <a:lnTo>
                  <a:pt x="3239830" y="3004598"/>
                </a:lnTo>
                <a:lnTo>
                  <a:pt x="47726" y="3004598"/>
                </a:lnTo>
                <a:close/>
              </a:path>
            </a:pathLst>
          </a:custGeom>
        </p:spPr>
        <p:txBody>
          <a:bodyPr rtlCol="0"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2A5051-57CB-D542-B99B-0D04097277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10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7D2B9C-90D4-F046-8A9A-9E286711CAF9}"/>
              </a:ext>
            </a:extLst>
          </p:cNvPr>
          <p:cNvCxnSpPr>
            <a:cxnSpLocks/>
          </p:cNvCxnSpPr>
          <p:nvPr/>
        </p:nvCxnSpPr>
        <p:spPr>
          <a:xfrm>
            <a:off x="666750" y="3633788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F229923-3A05-2A4F-8028-327C177F8637}"/>
              </a:ext>
            </a:extLst>
          </p:cNvPr>
          <p:cNvGrpSpPr/>
          <p:nvPr/>
        </p:nvGrpSpPr>
        <p:grpSpPr>
          <a:xfrm>
            <a:off x="672442" y="488835"/>
            <a:ext cx="2154734" cy="238118"/>
            <a:chOff x="1169102" y="2039490"/>
            <a:chExt cx="7663768" cy="846917"/>
          </a:xfrm>
          <a:solidFill>
            <a:schemeClr val="bg1"/>
          </a:solidFill>
        </p:grpSpPr>
        <p:pic>
          <p:nvPicPr>
            <p:cNvPr id="7" name="Graphic 8">
              <a:extLst>
                <a:ext uri="{FF2B5EF4-FFF2-40B4-BE49-F238E27FC236}">
                  <a16:creationId xmlns:a16="http://schemas.microsoft.com/office/drawing/2014/main" id="{2526D48F-0758-1E4C-B5A9-76D13E2D7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9102" y="2238361"/>
              <a:ext cx="979797" cy="587878"/>
            </a:xfrm>
            <a:prstGeom prst="rect">
              <a:avLst/>
            </a:prstGeom>
          </p:spPr>
        </p:pic>
        <p:pic>
          <p:nvPicPr>
            <p:cNvPr id="8" name="Graphic 9">
              <a:extLst>
                <a:ext uri="{FF2B5EF4-FFF2-40B4-BE49-F238E27FC236}">
                  <a16:creationId xmlns:a16="http://schemas.microsoft.com/office/drawing/2014/main" id="{678E6632-4639-6E40-BBA1-08E307FEF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50920" y="2167889"/>
              <a:ext cx="783838" cy="718518"/>
            </a:xfrm>
            <a:prstGeom prst="rect">
              <a:avLst/>
            </a:prstGeom>
          </p:spPr>
        </p:pic>
        <p:pic>
          <p:nvPicPr>
            <p:cNvPr id="9" name="Graphic 10">
              <a:extLst>
                <a:ext uri="{FF2B5EF4-FFF2-40B4-BE49-F238E27FC236}">
                  <a16:creationId xmlns:a16="http://schemas.microsoft.com/office/drawing/2014/main" id="{C6281113-8E10-C848-B36A-373EC289E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59431" y="2039490"/>
              <a:ext cx="674971" cy="783837"/>
            </a:xfrm>
            <a:prstGeom prst="rect">
              <a:avLst/>
            </a:prstGeom>
          </p:spPr>
        </p:pic>
        <p:pic>
          <p:nvPicPr>
            <p:cNvPr id="10" name="Graphic 11">
              <a:extLst>
                <a:ext uri="{FF2B5EF4-FFF2-40B4-BE49-F238E27FC236}">
                  <a16:creationId xmlns:a16="http://schemas.microsoft.com/office/drawing/2014/main" id="{6650CC91-E16B-FA41-97D4-9CA2384D1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83713" y="2049644"/>
              <a:ext cx="849157" cy="827383"/>
            </a:xfrm>
            <a:prstGeom prst="rect">
              <a:avLst/>
            </a:prstGeom>
          </p:spPr>
        </p:pic>
        <p:pic>
          <p:nvPicPr>
            <p:cNvPr id="11" name="Graphic 12">
              <a:extLst>
                <a:ext uri="{FF2B5EF4-FFF2-40B4-BE49-F238E27FC236}">
                  <a16:creationId xmlns:a16="http://schemas.microsoft.com/office/drawing/2014/main" id="{EB3480C3-60CE-C946-9E89-EB2B7BE00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68604" y="2122503"/>
              <a:ext cx="849157" cy="7402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30A06C4-47FF-1843-9215-2EB700F604E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4744" y="585538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65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87265BB8-3CC4-D24C-9A80-A0DCEA34D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A32166-CD09-6C47-9170-C0E551CAC873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2251A6A-9906-0846-A0AE-A84C2CB71F53}"/>
              </a:ext>
            </a:extLst>
          </p:cNvPr>
          <p:cNvSpPr/>
          <p:nvPr/>
        </p:nvSpPr>
        <p:spPr>
          <a:xfrm>
            <a:off x="781050" y="0"/>
            <a:ext cx="561975" cy="6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Graphic 9">
            <a:extLst>
              <a:ext uri="{FF2B5EF4-FFF2-40B4-BE49-F238E27FC236}">
                <a16:creationId xmlns:a16="http://schemas.microsoft.com/office/drawing/2014/main" id="{19CC3A0E-059E-2348-8EB8-801EB3FD366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387475"/>
            <a:ext cx="1105852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B2BC9-D147-EE4E-A68D-31E4DEFB3B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CF94E228-EDBA-BC4C-ABED-6F3C1A9010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CA86B90-A6A0-EE42-BC9A-4B49D8805F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5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0B1224-DAF3-BF42-ADA2-342CA6A9BEE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02E737C-7032-7B45-9176-1933D43D2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28DEB5-28F2-9E4C-A8D5-2AE84B94F30F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9" y="1482725"/>
            <a:ext cx="48577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725" y="1482725"/>
            <a:ext cx="5257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39BD169-C8AF-4D4E-9A58-1FB2D26B4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B2419100-B348-6C46-A05D-815961EF68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53A901C-CEC7-784A-B8DC-2B648C7F2D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80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DA66F2CF-2F42-5248-9C10-6405D62601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D352EF0B-6323-DC4A-96F2-9F8D230E2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AD2150-CC17-0841-8FA6-F620F8E136E1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237975-F5FC-224D-93D4-1BD687D25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A1949909-090E-7F47-8180-F1C1AE5B46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B43F62-D041-A34A-8BBA-6307FF5E16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F335B9-9E44-0154-11C8-78926BF73675}"/>
              </a:ext>
            </a:extLst>
          </p:cNvPr>
          <p:cNvSpPr/>
          <p:nvPr userDrawn="1"/>
        </p:nvSpPr>
        <p:spPr>
          <a:xfrm>
            <a:off x="381000" y="1297402"/>
            <a:ext cx="11541648" cy="1226480"/>
          </a:xfrm>
          <a:prstGeom prst="roundRect">
            <a:avLst>
              <a:gd name="adj" fmla="val 2323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5DE695-B576-7403-0FFC-55B8B13F9611}"/>
              </a:ext>
            </a:extLst>
          </p:cNvPr>
          <p:cNvSpPr txBox="1"/>
          <p:nvPr userDrawn="1"/>
        </p:nvSpPr>
        <p:spPr>
          <a:xfrm>
            <a:off x="590268" y="1241005"/>
            <a:ext cx="1799410" cy="24031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C62FB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447A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Arial" panose="020B0604020202020204" pitchFamily="34" charset="0"/>
              </a:rPr>
              <a:t>Our Understanding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0F6AE5D-6BD5-235E-DD75-65E82C9FF55D}"/>
              </a:ext>
            </a:extLst>
          </p:cNvPr>
          <p:cNvSpPr/>
          <p:nvPr userDrawn="1"/>
        </p:nvSpPr>
        <p:spPr>
          <a:xfrm>
            <a:off x="2610196" y="2703156"/>
            <a:ext cx="6171115" cy="3534090"/>
          </a:xfrm>
          <a:prstGeom prst="roundRect">
            <a:avLst>
              <a:gd name="adj" fmla="val 185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245E1D-3856-4968-2C6F-4915D82B2938}"/>
              </a:ext>
            </a:extLst>
          </p:cNvPr>
          <p:cNvSpPr txBox="1"/>
          <p:nvPr userDrawn="1"/>
        </p:nvSpPr>
        <p:spPr>
          <a:xfrm>
            <a:off x="2804870" y="2638399"/>
            <a:ext cx="3092077" cy="21676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C62FB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447A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Arial" panose="020B0604020202020204" pitchFamily="34" charset="0"/>
              </a:rPr>
              <a:t>Solution Approach &amp; Architecture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AD9334C-ED56-AB54-E27B-2EA5361E293C}"/>
              </a:ext>
            </a:extLst>
          </p:cNvPr>
          <p:cNvSpPr/>
          <p:nvPr userDrawn="1"/>
        </p:nvSpPr>
        <p:spPr>
          <a:xfrm>
            <a:off x="9018424" y="2710191"/>
            <a:ext cx="2904224" cy="1812382"/>
          </a:xfrm>
          <a:prstGeom prst="roundRect">
            <a:avLst>
              <a:gd name="adj" fmla="val 185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6324F1-5A67-144A-98E5-9AEB81B9EED7}"/>
              </a:ext>
            </a:extLst>
          </p:cNvPr>
          <p:cNvSpPr txBox="1"/>
          <p:nvPr userDrawn="1"/>
        </p:nvSpPr>
        <p:spPr>
          <a:xfrm>
            <a:off x="9095153" y="2654818"/>
            <a:ext cx="2527654" cy="18928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C62FB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447A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Arial" panose="020B0604020202020204" pitchFamily="34" charset="0"/>
              </a:rPr>
              <a:t>Team Summary / Metrics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F14EBED-0AE3-48D0-A40E-2CA72B47887D}"/>
              </a:ext>
            </a:extLst>
          </p:cNvPr>
          <p:cNvSpPr/>
          <p:nvPr userDrawn="1"/>
        </p:nvSpPr>
        <p:spPr>
          <a:xfrm>
            <a:off x="9011010" y="4710987"/>
            <a:ext cx="2911638" cy="1533294"/>
          </a:xfrm>
          <a:prstGeom prst="roundRect">
            <a:avLst>
              <a:gd name="adj" fmla="val 185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654CD3-1278-2B2C-4575-86CC8B4E95D8}"/>
              </a:ext>
            </a:extLst>
          </p:cNvPr>
          <p:cNvSpPr txBox="1"/>
          <p:nvPr userDrawn="1"/>
        </p:nvSpPr>
        <p:spPr>
          <a:xfrm>
            <a:off x="9095153" y="4687283"/>
            <a:ext cx="2607804" cy="15174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C62FB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447A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Arial" panose="020B0604020202020204" pitchFamily="34" charset="0"/>
              </a:rPr>
              <a:t>Price &amp; Next Steps 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6304D4E-8465-7208-F5A1-B5BA045F2F70}"/>
              </a:ext>
            </a:extLst>
          </p:cNvPr>
          <p:cNvSpPr/>
          <p:nvPr userDrawn="1"/>
        </p:nvSpPr>
        <p:spPr>
          <a:xfrm>
            <a:off x="368508" y="2710191"/>
            <a:ext cx="2021170" cy="3534090"/>
          </a:xfrm>
          <a:prstGeom prst="roundRect">
            <a:avLst>
              <a:gd name="adj" fmla="val 2323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DCCD39-CDE8-9B93-BC5A-FE1DF3FFC026}"/>
              </a:ext>
            </a:extLst>
          </p:cNvPr>
          <p:cNvSpPr txBox="1"/>
          <p:nvPr userDrawn="1"/>
        </p:nvSpPr>
        <p:spPr>
          <a:xfrm>
            <a:off x="461070" y="2645235"/>
            <a:ext cx="1366190" cy="20532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C62FB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447A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Arial" panose="020B0604020202020204" pitchFamily="34" charset="0"/>
              </a:rPr>
              <a:t>Assumptions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7BD24031-7FD5-9B07-38E5-56318648ECB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0375" y="1481138"/>
            <a:ext cx="11342688" cy="95408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endParaRPr lang="en-US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392EDE1B-6786-61FE-EF8F-A92AF38DD44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0375" y="2844800"/>
            <a:ext cx="1841500" cy="3302000"/>
          </a:xfr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2EB01749-E64D-C766-B3B2-5BCF5D302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09863" y="2851150"/>
            <a:ext cx="5992812" cy="3295650"/>
          </a:xfr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DA0A56D-FD8E-5EAF-65EB-BDCC9F4C8AE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59639710"/>
              </p:ext>
            </p:extLst>
          </p:nvPr>
        </p:nvGraphicFramePr>
        <p:xfrm>
          <a:off x="9108757" y="2904424"/>
          <a:ext cx="2716144" cy="149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072">
                  <a:extLst>
                    <a:ext uri="{9D8B030D-6E8A-4147-A177-3AD203B41FA5}">
                      <a16:colId xmlns:a16="http://schemas.microsoft.com/office/drawing/2014/main" val="29664079"/>
                    </a:ext>
                  </a:extLst>
                </a:gridCol>
                <a:gridCol w="1358072">
                  <a:extLst>
                    <a:ext uri="{9D8B030D-6E8A-4147-A177-3AD203B41FA5}">
                      <a16:colId xmlns:a16="http://schemas.microsoft.com/office/drawing/2014/main" val="179061640"/>
                    </a:ext>
                  </a:extLst>
                </a:gridCol>
              </a:tblGrid>
              <a:tr h="298796">
                <a:tc>
                  <a:txBody>
                    <a:bodyPr/>
                    <a:lstStyle/>
                    <a:p>
                      <a:r>
                        <a:rPr lang="en-US" sz="12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871945"/>
                  </a:ext>
                </a:extLst>
              </a:tr>
              <a:tr h="298796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245100"/>
                  </a:ext>
                </a:extLst>
              </a:tr>
              <a:tr h="29879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478071"/>
                  </a:ext>
                </a:extLst>
              </a:tr>
              <a:tr h="29879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790600"/>
                  </a:ext>
                </a:extLst>
              </a:tr>
              <a:tr h="29879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72443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90D668A-145B-AB41-F1FE-B01785204F1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0891801"/>
              </p:ext>
            </p:extLst>
          </p:nvPr>
        </p:nvGraphicFramePr>
        <p:xfrm>
          <a:off x="9148982" y="4948599"/>
          <a:ext cx="2635694" cy="1175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847">
                  <a:extLst>
                    <a:ext uri="{9D8B030D-6E8A-4147-A177-3AD203B41FA5}">
                      <a16:colId xmlns:a16="http://schemas.microsoft.com/office/drawing/2014/main" val="2001344607"/>
                    </a:ext>
                  </a:extLst>
                </a:gridCol>
                <a:gridCol w="1317847">
                  <a:extLst>
                    <a:ext uri="{9D8B030D-6E8A-4147-A177-3AD203B41FA5}">
                      <a16:colId xmlns:a16="http://schemas.microsoft.com/office/drawing/2014/main" val="3924046288"/>
                    </a:ext>
                  </a:extLst>
                </a:gridCol>
              </a:tblGrid>
              <a:tr h="293996">
                <a:tc>
                  <a:txBody>
                    <a:bodyPr/>
                    <a:lstStyle/>
                    <a:p>
                      <a:r>
                        <a:rPr lang="en-US" sz="1200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Financial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131603"/>
                  </a:ext>
                </a:extLst>
              </a:tr>
              <a:tr h="293996">
                <a:tc>
                  <a:txBody>
                    <a:bodyPr/>
                    <a:lstStyle/>
                    <a:p>
                      <a:r>
                        <a:rPr lang="en-US" sz="1100" dirty="0"/>
                        <a:t>Total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502414"/>
                  </a:ext>
                </a:extLst>
              </a:tr>
              <a:tr h="293996">
                <a:tc>
                  <a:txBody>
                    <a:bodyPr/>
                    <a:lstStyle/>
                    <a:p>
                      <a:r>
                        <a:rPr lang="en-US" sz="1100" dirty="0"/>
                        <a:t>Potential 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423419"/>
                  </a:ext>
                </a:extLst>
              </a:tr>
              <a:tr h="293996">
                <a:tc>
                  <a:txBody>
                    <a:bodyPr/>
                    <a:lstStyle/>
                    <a:p>
                      <a:r>
                        <a:rPr lang="en-US" sz="1100" dirty="0"/>
                        <a:t>Customer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911938"/>
                  </a:ext>
                </a:extLst>
              </a:tr>
            </a:tbl>
          </a:graphicData>
        </a:graphic>
      </p:graphicFrame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7A4E0A8-183C-1D6D-B7BF-B45B8B94CD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66388" y="5262563"/>
            <a:ext cx="1357104" cy="27463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sz="1000" dirty="0"/>
              <a:t>[Total Services Cost]</a:t>
            </a:r>
            <a:endParaRPr lang="en-US" dirty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6DBA129C-0D6C-0810-D330-A6964FA3C2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466388" y="5576527"/>
            <a:ext cx="1456260" cy="27463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sz="1000" dirty="0"/>
              <a:t>[Potential Fund Cost]</a:t>
            </a:r>
            <a:endParaRPr lang="en-US" dirty="0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031AB62-F6F0-518A-BC72-9B9DF311E2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66388" y="5850555"/>
            <a:ext cx="1357104" cy="27463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sz="1000" dirty="0"/>
              <a:t>[Customer Cost]</a:t>
            </a:r>
            <a:endParaRPr lang="en-US" dirty="0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705425E3-69E8-3C11-74FA-D1BA0BB495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09284" y="3230553"/>
            <a:ext cx="1357104" cy="26512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sz="1000" dirty="0"/>
              <a:t>[Metric #1]</a:t>
            </a:r>
            <a:endParaRPr lang="en-US" dirty="0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3DDF5F87-DC7B-8B30-FFE5-6806DCB3A0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9284" y="3522612"/>
            <a:ext cx="1357104" cy="26512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sz="1000" dirty="0"/>
              <a:t>[Metric #2]</a:t>
            </a:r>
            <a:endParaRPr lang="en-US" dirty="0"/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48051881-33D6-E9C9-0FD9-ACCCCECB67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08757" y="3832563"/>
            <a:ext cx="1357104" cy="26512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sz="1000" dirty="0"/>
              <a:t>[Metric #3]</a:t>
            </a:r>
            <a:endParaRPr lang="en-US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A2B4F064-D7CD-4ADA-0E72-060B7B5158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1668" y="4116153"/>
            <a:ext cx="1357104" cy="26512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sz="1000" dirty="0"/>
              <a:t>[Metric #4]</a:t>
            </a:r>
            <a:endParaRPr lang="en-US" dirty="0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5E11928-0253-9220-4C82-5EAC8C13B1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445356" y="3212661"/>
            <a:ext cx="1357104" cy="26512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sz="1000" dirty="0"/>
              <a:t>[Quantity #1]</a:t>
            </a:r>
            <a:endParaRPr lang="en-US" dirty="0"/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FF61C378-BD4E-22B3-F549-742A1F272F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66388" y="3523062"/>
            <a:ext cx="1357104" cy="26512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sz="1000" dirty="0"/>
              <a:t>[Quantity #2]</a:t>
            </a:r>
            <a:endParaRPr lang="en-US" dirty="0"/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EEC51245-1A4C-C41F-B4D1-F5EDF4F1B9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67809" y="3811893"/>
            <a:ext cx="1357104" cy="26512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sz="1000" dirty="0"/>
              <a:t>[Quantity #3]</a:t>
            </a:r>
            <a:endParaRPr lang="en-US" dirty="0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F0841BF4-BF12-5DAB-2126-379D8F501A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466388" y="4121394"/>
            <a:ext cx="1357104" cy="265127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sz="1000" dirty="0"/>
              <a:t>[Quantity #4]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381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-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C92F021B-3E8B-7C4F-B75C-5349E20231B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F4FFDA-8A92-15D6-C4CA-F686B2B01E0C}"/>
              </a:ext>
            </a:extLst>
          </p:cNvPr>
          <p:cNvSpPr/>
          <p:nvPr userDrawn="1"/>
        </p:nvSpPr>
        <p:spPr>
          <a:xfrm>
            <a:off x="400050" y="1658909"/>
            <a:ext cx="11541648" cy="1226480"/>
          </a:xfrm>
          <a:prstGeom prst="roundRect">
            <a:avLst>
              <a:gd name="adj" fmla="val 2323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DD037-67B1-D547-37A7-8420A619C6ED}"/>
              </a:ext>
            </a:extLst>
          </p:cNvPr>
          <p:cNvSpPr txBox="1"/>
          <p:nvPr userDrawn="1"/>
        </p:nvSpPr>
        <p:spPr>
          <a:xfrm>
            <a:off x="583495" y="1538751"/>
            <a:ext cx="1799410" cy="24031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C62FB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447A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Arial" panose="020B0604020202020204" pitchFamily="34" charset="0"/>
              </a:rPr>
              <a:t>Our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355538581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E4508082-3C66-DE41-824B-8C7D959EE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8E294F-853D-3F43-97FD-73DCB4910F35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83A090-E8F6-644B-8CAD-AC1AE541E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69BFB6C7-4CFE-684D-9F0F-089FE7A8AE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8D010D6-C6F8-F141-A1B1-181F06E83D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04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6439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401AD8-5990-D04D-B5D4-8857BA954750}"/>
              </a:ext>
            </a:extLst>
          </p:cNvPr>
          <p:cNvSpPr/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57719" y="2212262"/>
            <a:ext cx="5913669" cy="2495550"/>
          </a:xfrm>
        </p:spPr>
        <p:txBody>
          <a:bodyPr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91237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2930B-2940-CF45-BEB3-0F0DF29E955B}"/>
              </a:ext>
            </a:extLst>
          </p:cNvPr>
          <p:cNvSpPr/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57720" y="2212262"/>
            <a:ext cx="5783040" cy="2495550"/>
          </a:xfrm>
        </p:spPr>
        <p:txBody>
          <a:bodyPr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66173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7C0B3E-6DAF-5249-ADEC-59A435FFAFBE}"/>
              </a:ext>
            </a:extLst>
          </p:cNvPr>
          <p:cNvCxnSpPr/>
          <p:nvPr/>
        </p:nvCxnSpPr>
        <p:spPr>
          <a:xfrm>
            <a:off x="1009650" y="3790950"/>
            <a:ext cx="390525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685925"/>
            <a:ext cx="6092825" cy="19907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8525" y="3922714"/>
            <a:ext cx="6083300" cy="7921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6017035" y="-9834"/>
            <a:ext cx="5988152" cy="6907163"/>
          </a:xfrm>
          <a:custGeom>
            <a:avLst/>
            <a:gdLst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3248159 w 6656746"/>
              <a:gd name="connsiteY3" fmla="*/ 6858000 h 6858000"/>
              <a:gd name="connsiteX4" fmla="*/ 0 w 6656746"/>
              <a:gd name="connsiteY4" fmla="*/ 6858000 h 6858000"/>
              <a:gd name="connsiteX5" fmla="*/ 3408587 w 6656746"/>
              <a:gd name="connsiteY5" fmla="*/ 3429000 h 6858000"/>
              <a:gd name="connsiteX6" fmla="*/ 0 w 6656746"/>
              <a:gd name="connsiteY6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5103249 w 6656746"/>
              <a:gd name="connsiteY3" fmla="*/ 4975123 h 6858000"/>
              <a:gd name="connsiteX4" fmla="*/ 3248159 w 6656746"/>
              <a:gd name="connsiteY4" fmla="*/ 6858000 h 6858000"/>
              <a:gd name="connsiteX5" fmla="*/ 0 w 6656746"/>
              <a:gd name="connsiteY5" fmla="*/ 6858000 h 6858000"/>
              <a:gd name="connsiteX6" fmla="*/ 3408587 w 6656746"/>
              <a:gd name="connsiteY6" fmla="*/ 3429000 h 6858000"/>
              <a:gd name="connsiteX7" fmla="*/ 0 w 6656746"/>
              <a:gd name="connsiteY7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5299894 w 6656746"/>
              <a:gd name="connsiteY2" fmla="*/ 2084439 h 6858000"/>
              <a:gd name="connsiteX3" fmla="*/ 6656746 w 6656746"/>
              <a:gd name="connsiteY3" fmla="*/ 3429000 h 6858000"/>
              <a:gd name="connsiteX4" fmla="*/ 5103249 w 6656746"/>
              <a:gd name="connsiteY4" fmla="*/ 4975123 h 6858000"/>
              <a:gd name="connsiteX5" fmla="*/ 3248159 w 6656746"/>
              <a:gd name="connsiteY5" fmla="*/ 6858000 h 6858000"/>
              <a:gd name="connsiteX6" fmla="*/ 0 w 6656746"/>
              <a:gd name="connsiteY6" fmla="*/ 6858000 h 6858000"/>
              <a:gd name="connsiteX7" fmla="*/ 3408587 w 6656746"/>
              <a:gd name="connsiteY7" fmla="*/ 3429000 h 6858000"/>
              <a:gd name="connsiteX8" fmla="*/ 0 w 6656746"/>
              <a:gd name="connsiteY8" fmla="*/ 0 h 6858000"/>
              <a:gd name="connsiteX0" fmla="*/ 0 w 5299894"/>
              <a:gd name="connsiteY0" fmla="*/ 0 h 6858000"/>
              <a:gd name="connsiteX1" fmla="*/ 3248159 w 5299894"/>
              <a:gd name="connsiteY1" fmla="*/ 0 h 6858000"/>
              <a:gd name="connsiteX2" fmla="*/ 5299894 w 5299894"/>
              <a:gd name="connsiteY2" fmla="*/ 2084439 h 6858000"/>
              <a:gd name="connsiteX3" fmla="*/ 5103249 w 5299894"/>
              <a:gd name="connsiteY3" fmla="*/ 4975123 h 6858000"/>
              <a:gd name="connsiteX4" fmla="*/ 3248159 w 5299894"/>
              <a:gd name="connsiteY4" fmla="*/ 6858000 h 6858000"/>
              <a:gd name="connsiteX5" fmla="*/ 0 w 5299894"/>
              <a:gd name="connsiteY5" fmla="*/ 6858000 h 6858000"/>
              <a:gd name="connsiteX6" fmla="*/ 3408587 w 5299894"/>
              <a:gd name="connsiteY6" fmla="*/ 3429000 h 6858000"/>
              <a:gd name="connsiteX7" fmla="*/ 0 w 5299894"/>
              <a:gd name="connsiteY7" fmla="*/ 0 h 6858000"/>
              <a:gd name="connsiteX0" fmla="*/ 0 w 5880987"/>
              <a:gd name="connsiteY0" fmla="*/ 0 h 6858000"/>
              <a:gd name="connsiteX1" fmla="*/ 3248159 w 5880987"/>
              <a:gd name="connsiteY1" fmla="*/ 0 h 6858000"/>
              <a:gd name="connsiteX2" fmla="*/ 5299894 w 5880987"/>
              <a:gd name="connsiteY2" fmla="*/ 2084439 h 6858000"/>
              <a:gd name="connsiteX3" fmla="*/ 5879997 w 5880987"/>
              <a:gd name="connsiteY3" fmla="*/ 3451123 h 6858000"/>
              <a:gd name="connsiteX4" fmla="*/ 5103249 w 5880987"/>
              <a:gd name="connsiteY4" fmla="*/ 4975123 h 6858000"/>
              <a:gd name="connsiteX5" fmla="*/ 3248159 w 5880987"/>
              <a:gd name="connsiteY5" fmla="*/ 6858000 h 6858000"/>
              <a:gd name="connsiteX6" fmla="*/ 0 w 5880987"/>
              <a:gd name="connsiteY6" fmla="*/ 6858000 h 6858000"/>
              <a:gd name="connsiteX7" fmla="*/ 3408587 w 5880987"/>
              <a:gd name="connsiteY7" fmla="*/ 3429000 h 6858000"/>
              <a:gd name="connsiteX8" fmla="*/ 0 w 588098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198998 w 5879997"/>
              <a:gd name="connsiteY1" fmla="*/ 29497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60 w 5879997"/>
              <a:gd name="connsiteY1" fmla="*/ 39329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18663 w 5879997"/>
              <a:gd name="connsiteY1" fmla="*/ 19664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29497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29497 w 5909494"/>
              <a:gd name="connsiteY8" fmla="*/ 0 h 6867833"/>
              <a:gd name="connsiteX0" fmla="*/ 19665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19665 w 5909494"/>
              <a:gd name="connsiteY8" fmla="*/ 0 h 6867833"/>
              <a:gd name="connsiteX0" fmla="*/ 19665 w 5909494"/>
              <a:gd name="connsiteY0" fmla="*/ 1 h 6867834"/>
              <a:gd name="connsiteX1" fmla="*/ 3228496 w 5909494"/>
              <a:gd name="connsiteY1" fmla="*/ 0 h 6867834"/>
              <a:gd name="connsiteX2" fmla="*/ 5329391 w 5909494"/>
              <a:gd name="connsiteY2" fmla="*/ 2084440 h 6867834"/>
              <a:gd name="connsiteX3" fmla="*/ 5909494 w 5909494"/>
              <a:gd name="connsiteY3" fmla="*/ 3451124 h 6867834"/>
              <a:gd name="connsiteX4" fmla="*/ 5132746 w 5909494"/>
              <a:gd name="connsiteY4" fmla="*/ 4975124 h 6867834"/>
              <a:gd name="connsiteX5" fmla="*/ 3277656 w 5909494"/>
              <a:gd name="connsiteY5" fmla="*/ 6858001 h 6867834"/>
              <a:gd name="connsiteX6" fmla="*/ 0 w 5909494"/>
              <a:gd name="connsiteY6" fmla="*/ 6867834 h 6867834"/>
              <a:gd name="connsiteX7" fmla="*/ 3438084 w 5909494"/>
              <a:gd name="connsiteY7" fmla="*/ 3429001 h 6867834"/>
              <a:gd name="connsiteX8" fmla="*/ 19665 w 5909494"/>
              <a:gd name="connsiteY8" fmla="*/ 1 h 6867834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87245 w 5958655"/>
              <a:gd name="connsiteY7" fmla="*/ 3429001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07153 w 5958655"/>
              <a:gd name="connsiteY5" fmla="*/ 6887498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77413 w 5988152"/>
              <a:gd name="connsiteY7" fmla="*/ 3438834 h 6887499"/>
              <a:gd name="connsiteX8" fmla="*/ 68826 w 5988152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57748 w 5988152"/>
              <a:gd name="connsiteY7" fmla="*/ 3429002 h 6887499"/>
              <a:gd name="connsiteX8" fmla="*/ 68826 w 5988152"/>
              <a:gd name="connsiteY8" fmla="*/ 1 h 6887499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78552 w 5988152"/>
              <a:gd name="connsiteY2" fmla="*/ 2084440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68719 w 5988152"/>
              <a:gd name="connsiteY2" fmla="*/ 2054943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9834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68826 w 5988152"/>
              <a:gd name="connsiteY8" fmla="*/ 9834 h 6907163"/>
              <a:gd name="connsiteX0" fmla="*/ 29497 w 5988152"/>
              <a:gd name="connsiteY0" fmla="*/ 2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29497 w 5988152"/>
              <a:gd name="connsiteY8" fmla="*/ 2 h 6907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88152" h="6907163">
                <a:moveTo>
                  <a:pt x="29497" y="2"/>
                </a:moveTo>
                <a:lnTo>
                  <a:pt x="3297321" y="0"/>
                </a:lnTo>
                <a:lnTo>
                  <a:pt x="5368719" y="2064776"/>
                </a:lnTo>
                <a:cubicBezTo>
                  <a:pt x="5555532" y="2284363"/>
                  <a:pt x="5958656" y="2631770"/>
                  <a:pt x="5988152" y="3460957"/>
                </a:cubicBezTo>
                <a:cubicBezTo>
                  <a:pt x="5896384" y="4185267"/>
                  <a:pt x="5716127" y="4388466"/>
                  <a:pt x="5181907" y="4984957"/>
                </a:cubicBezTo>
                <a:lnTo>
                  <a:pt x="3336650" y="6907163"/>
                </a:lnTo>
                <a:lnTo>
                  <a:pt x="0" y="6897332"/>
                </a:lnTo>
                <a:lnTo>
                  <a:pt x="3457748" y="3438835"/>
                </a:lnTo>
                <a:lnTo>
                  <a:pt x="29497" y="2"/>
                </a:lnTo>
                <a:close/>
              </a:path>
            </a:pathLst>
          </a:custGeom>
        </p:spPr>
        <p:txBody>
          <a:bodyPr rtlCol="0"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42840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935C4404-72A9-2745-A1B7-F0008387C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3579DBC6-611E-384B-AA33-720791978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B56B62-D687-0445-B458-08200F2CD8C2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1" y="2047875"/>
            <a:ext cx="10763250" cy="2495550"/>
          </a:xfrm>
        </p:spPr>
        <p:txBody>
          <a:bodyPr anchor="t">
            <a:norm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0D69612-00A8-9A41-BE45-AD8D9AE40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142B1E9F-63E1-9644-8172-3F6AC64BB5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82B79F-8F4C-A04B-BE98-21CE97FA2E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51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Quote w-Sub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240EFC3-B389-4C47-84E5-4880A528C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41F6A0-E102-CB48-89C3-7B755FD4763D}"/>
              </a:ext>
            </a:extLst>
          </p:cNvPr>
          <p:cNvSpPr/>
          <p:nvPr/>
        </p:nvSpPr>
        <p:spPr>
          <a:xfrm>
            <a:off x="5815013" y="3362325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F5326561-370A-C942-B96F-44FE88115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1E474D-14D8-8E47-9DCB-A63D25FC226C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1" y="1219199"/>
            <a:ext cx="10763250" cy="1876425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249276" y="3716632"/>
            <a:ext cx="7647200" cy="116016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26D5FB4-E61A-574C-91D3-3E2D8C5089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F35897D1-7F04-3348-950C-969DA83C98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90B8171-99F7-6147-928A-D3EA9BF729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41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 City End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810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1" y="2920628"/>
            <a:ext cx="5199042" cy="2534975"/>
          </a:xfrm>
        </p:spPr>
        <p:txBody>
          <a:bodyPr anchor="b"/>
          <a:lstStyle>
            <a:lvl1pPr algn="l">
              <a:defRPr sz="6000" b="1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949386"/>
            <a:ext cx="6130192" cy="489513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A5F4B4-789B-A8E3-82E9-41F6229161FB}"/>
              </a:ext>
            </a:extLst>
          </p:cNvPr>
          <p:cNvCxnSpPr>
            <a:cxnSpLocks/>
          </p:cNvCxnSpPr>
          <p:nvPr userDrawn="1"/>
        </p:nvCxnSpPr>
        <p:spPr>
          <a:xfrm>
            <a:off x="666750" y="5702494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C98216DA-77CE-B1B3-C16B-1D1C313A88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316" y="1160896"/>
            <a:ext cx="2123754" cy="40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0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57D823-8F3B-8244-A2A2-F82A32281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EA322BF-5589-0A40-981A-CA01D0A8B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2FFEC-18CB-E645-960D-8EDDDC516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333333"/>
                </a:solidFill>
                <a:latin typeface="+mn-lt"/>
              </a:defRPr>
            </a:lvl1pPr>
          </a:lstStyle>
          <a:p>
            <a:pPr>
              <a:defRPr/>
            </a:pPr>
            <a:fld id="{A8C65966-93CC-F24E-90A5-02507490DB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3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35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rgbClr val="616062"/>
        </a:buClr>
        <a:buFont typeface="Arial" panose="020B0604020202020204" pitchFamily="34" charset="0"/>
        <a:buChar char="•"/>
        <a:defRPr sz="2400" kern="1200">
          <a:solidFill>
            <a:srgbClr val="616062"/>
          </a:solidFill>
          <a:latin typeface="+mn-lt"/>
          <a:ea typeface="+mn-ea"/>
          <a:cs typeface="+mn-cs"/>
        </a:defRPr>
      </a:lvl2pPr>
      <a:lvl3pPr marL="804863" indent="-1698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616062"/>
          </a:solidFill>
          <a:latin typeface="+mn-lt"/>
          <a:ea typeface="+mn-ea"/>
          <a:cs typeface="+mn-cs"/>
        </a:defRPr>
      </a:lvl3pPr>
      <a:lvl4pPr marL="1146175" indent="-2841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4pPr>
      <a:lvl5pPr marL="1430338" indent="-2841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01B39-EB30-F8F9-1D99-C7DCDF20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[Client] – [Desired Outcome]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F8509A-F051-A1E8-1743-E5DFBBC6A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949909-090E-7F47-8180-F1C1AE5B461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466D9-E737-2F8C-41B1-0964787BDCF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[Our Understanding]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F7F1B6-ECA7-1F64-B3B6-B72E13BC8C4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[Assumptions]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54DFA-2E83-1472-7683-B37404B4D3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[Solution Approach]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388C95-54FB-0DFB-29AA-550477AB92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[Total Services Cost]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E20CDD-8826-D3F5-275D-AA2A15D018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[Potential Fund Cost]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262495B-A066-BD5D-FDE5-EDEF8F6CE9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[Customer Cost]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6569F3-C376-17BB-DCDD-A2F2743B2E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[Metric #1]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55DE56-A894-9577-B83E-C122AC0106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[Metric #2]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A6711F3-EF7D-5760-9BCF-42313068AB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[Metric #3]</a:t>
            </a:r>
          </a:p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469723C-85F6-64AA-2810-2EF4EDF813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[Metric #4]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9356E9B-5511-7BC8-C823-B7E5C637089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[Quantity #1]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857372-4088-A5D4-24AB-7617DA85728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[Quantity #2]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7B1498-A0ED-19F6-3C8D-D620E80F8BD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[Quantity #3]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75A3F36-7AC2-7BD2-1705-BD9E027D5C2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[Quantity #4]</a:t>
            </a:r>
          </a:p>
        </p:txBody>
      </p:sp>
    </p:spTree>
    <p:extLst>
      <p:ext uri="{BB962C8B-B14F-4D97-AF65-F5344CB8AC3E}">
        <p14:creationId xmlns:p14="http://schemas.microsoft.com/office/powerpoint/2010/main" val="11870006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Presidio 2021">
      <a:dk1>
        <a:srgbClr val="000000"/>
      </a:dk1>
      <a:lt1>
        <a:srgbClr val="FFFFFF"/>
      </a:lt1>
      <a:dk2>
        <a:srgbClr val="007EB8"/>
      </a:dk2>
      <a:lt2>
        <a:srgbClr val="EEECE1"/>
      </a:lt2>
      <a:accent1>
        <a:srgbClr val="0080BA"/>
      </a:accent1>
      <a:accent2>
        <a:srgbClr val="FF9901"/>
      </a:accent2>
      <a:accent3>
        <a:srgbClr val="989998"/>
      </a:accent3>
      <a:accent4>
        <a:srgbClr val="71D24B"/>
      </a:accent4>
      <a:accent5>
        <a:srgbClr val="616062"/>
      </a:accent5>
      <a:accent6>
        <a:srgbClr val="00447A"/>
      </a:accent6>
      <a:hlink>
        <a:srgbClr val="05ABEF"/>
      </a:hlink>
      <a:folHlink>
        <a:srgbClr val="0044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usiness Use Case Testing Scenarios" id="{EFED5805-F70F-CE45-A9FF-EB76D16C52B7}" vid="{9BED376A-806D-B642-96E0-C955F6ACC0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95d93c-b4ae-4d60-9b12-c647bb09d82e" xsi:nil="true"/>
    <lcf76f155ced4ddcb4097134ff3c332f xmlns="0cedc2d2-a49e-4507-a57e-8fef125cf3b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809FB3069DC14292EBBDEBCE8B0620" ma:contentTypeVersion="12" ma:contentTypeDescription="Create a new document." ma:contentTypeScope="" ma:versionID="4eedf06775f277991374d5338e78e6fd">
  <xsd:schema xmlns:xsd="http://www.w3.org/2001/XMLSchema" xmlns:xs="http://www.w3.org/2001/XMLSchema" xmlns:p="http://schemas.microsoft.com/office/2006/metadata/properties" xmlns:ns2="0cedc2d2-a49e-4507-a57e-8fef125cf3b9" xmlns:ns3="de95d93c-b4ae-4d60-9b12-c647bb09d82e" targetNamespace="http://schemas.microsoft.com/office/2006/metadata/properties" ma:root="true" ma:fieldsID="2314379216d39a004be6691ebf32a62e" ns2:_="" ns3:_="">
    <xsd:import namespace="0cedc2d2-a49e-4507-a57e-8fef125cf3b9"/>
    <xsd:import namespace="de95d93c-b4ae-4d60-9b12-c647bb09d8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edc2d2-a49e-4507-a57e-8fef125cf3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efb7213-5598-45af-a1e8-bb0227de72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95d93c-b4ae-4d60-9b12-c647bb09d82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3c0bac7-77cd-4a8f-9710-cb6dc3531b60}" ma:internalName="TaxCatchAll" ma:showField="CatchAllData" ma:web="de95d93c-b4ae-4d60-9b12-c647bb09d8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D6A5E8-6B91-46E4-A25A-75134266A3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04C5E0-4F08-4005-8BD8-049C0B094881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http://www.w3.org/XML/1998/namespace"/>
    <ds:schemaRef ds:uri="de95d93c-b4ae-4d60-9b12-c647bb09d82e"/>
    <ds:schemaRef ds:uri="0cedc2d2-a49e-4507-a57e-8fef125cf3b9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27D4CB5-84DE-412F-854B-2A1EB28AE8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edc2d2-a49e-4507-a57e-8fef125cf3b9"/>
    <ds:schemaRef ds:uri="de95d93c-b4ae-4d60-9b12-c647bb09d8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1699</TotalTime>
  <Words>74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Avenir Book</vt:lpstr>
      <vt:lpstr>1_Office Theme</vt:lpstr>
      <vt:lpstr>[Client] – [Desired Outcome]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Hadizadeh</dc:creator>
  <cp:lastModifiedBy>Lal, Kishan</cp:lastModifiedBy>
  <cp:revision>18</cp:revision>
  <dcterms:created xsi:type="dcterms:W3CDTF">2026-01-09T03:05:00Z</dcterms:created>
  <dcterms:modified xsi:type="dcterms:W3CDTF">2026-01-20T05:17:33Z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0x010100F8809FB3069DC14292EBBDEBCE8B0620</vt:lpwstr>
  </property>
</Properties>
</file>